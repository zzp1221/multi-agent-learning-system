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开场：一句话说明智学引擎是面向计算机学习的 AI 个性化学习平台，强调多智能体、RAG 与学习闭环。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这一页讲痛点和定位：系统不是单点问答，而是覆盖学习全过程，并且在工程上能稳定演示。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产品总览页要快速扫过模块，不展开每个页面。强调所有页面都服务学习闭环。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这一页可直接作为录屏脚本目录。录视频时按 6 个节点推进，不要只展示静态页面。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架构页讲清楚唯一入口和两条 SSE 路径：对话流实时代理，长任务持久化重放。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页讲出差异化：不是只做向量搜索，而是四路召回、规则分类和加权融合。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多智能体页突出工程可扩展，不要只罗列名称。强调新增 Agent 的成本很低。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这一页讲学习闭环的价值：画像不是报表，而是下一轮智能体决策的输入。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长任务页要展示工程成熟度：排队、执行、事件回放、取消和下载都闭合。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安全页把用户 Key 边界讲清楚，避免评委质疑演示使用系统密钥或绕过 Java 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验证页要用数字收束，不要只说已经完成。强调 RAG、SSE 和前端 Console。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结尾页用于视频收束，建议最后切回系统界面展示下载或画像变化。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37744" y="0"/>
            <a:ext cx="3886200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" y="5431536"/>
            <a:ext cx="3886200" cy="14264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6583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智学引擎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129844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956816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驱动的个性化计算机学习系统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9808" y="3182112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多智能体协作 · 四路融合 RAG · 学习画像闭环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49808" y="5715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演示视频所用 PPT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606247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中国软件杯参赛作品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09160" y="786384"/>
            <a:ext cx="60899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把知识检索、智能体生成、学习诊断放进可部署的全栈闭环。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36592" y="2029968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面向计算机课程学习，从问答、资源生成到路径规划与错题复习，系统自动沉淀画像并驱动下一轮学习。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141732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320040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10328" y="3575304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专职智能体协作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6428232" y="3063240"/>
            <a:ext cx="19659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320040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83680" y="3575304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Grep / Vector / Graph / Web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8668512" y="3063240"/>
            <a:ext cx="208483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14816" y="32004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642+499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823960" y="3575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 与资源文档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4754880" y="4270248"/>
            <a:ext cx="186537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440740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100/100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10328" y="478231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RAG hit@3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912864" y="4270248"/>
            <a:ext cx="185623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440740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94/100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068312" y="478231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 RAG hit@3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9070848" y="4270248"/>
            <a:ext cx="1682496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4407408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226296" y="47823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 Console 错误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 PPT · 智学引擎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从“会答题”到“会带着学生学”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项目定位：解决计算机学习中的路径、资源、反馈和可靠性问题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94944" y="16642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AI 学习工具的缺口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" y="2084832"/>
            <a:ext cx="397764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资源碎片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1719072" y="219456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问答、课件、练习、视频互不连通，学习路径难沉淀。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94944" y="2798064"/>
            <a:ext cx="3977640" cy="493776"/>
          </a:xfrm>
          <a:prstGeom prst="roundRect">
            <a:avLst/>
          </a:prstGeom>
          <a:solidFill>
            <a:srgbClr val="FEF1CF"/>
          </a:solidFill>
          <a:ln w="10160">
            <a:solidFill>
              <a:srgbClr val="F8D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9260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反馈滞后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719072" y="290779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只给答案，不持续记录薄弱点与掌握度变化。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94944" y="3511296"/>
            <a:ext cx="397764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6393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检索不稳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719072" y="362102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术语、图谱关系、多跳证据和实时信息难统一。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94944" y="4224528"/>
            <a:ext cx="3977640" cy="4937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3525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工程不可靠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1719072" y="43342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长任务、SSE、下载签名、密钥边界容易在联调中断裂。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120640" y="1874520"/>
            <a:ext cx="0" cy="3246120"/>
          </a:xfrm>
          <a:prstGeom prst="line">
            <a:avLst/>
          </a:prstGeom>
          <a:noFill/>
          <a:ln w="15240">
            <a:solidFill>
              <a:srgbClr val="CAD5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1664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智学引擎的回答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96128" y="2084832"/>
            <a:ext cx="221284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240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0" y="25420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浏览器只访问 Java /api，Python Agent 仅内部调用。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174736" y="2084832"/>
            <a:ext cx="221284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240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个性化闭环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9328" y="25420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画像、计划、练习、错题与资源生成互相回写。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96128" y="3419856"/>
            <a:ext cx="221284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5753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证据驱动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60720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 RAG 召回后加权 RRF 融合，减少凭空生成。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74736" y="3419856"/>
            <a:ext cx="221284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5753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可演示交付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9328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Streams + SSE 重放 + 1800s Nginx 超时。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96128" y="4846320"/>
            <a:ext cx="4809744" cy="621792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7296" y="5029200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演示主线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547104" y="50109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学生提出问题 → 系统检索证据 → 智能体生成资源 → 画像更新 → 下一轮学习建议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产品全貌：一个学习闭环，九类核心能力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所有功能围绕“学、练、测、评、复”流转，避免单点 AI 工具割裂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17720" y="2889504"/>
            <a:ext cx="1828800" cy="106070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316382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实时更新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1755648"/>
            <a:ext cx="2039112" cy="640080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186537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75104" y="2112264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 / 图片 / 深度推理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834640" y="2075688"/>
            <a:ext cx="1874520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1572768"/>
            <a:ext cx="2039112" cy="64008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168249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资源生成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5464" y="1929384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PPT / 思维导图 / 视频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5715000" y="1892808"/>
            <a:ext cx="0" cy="1527048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07808" y="1755648"/>
            <a:ext cx="2039112" cy="640080"/>
          </a:xfrm>
          <a:prstGeom prst="roundRect">
            <a:avLst/>
          </a:prstGeom>
          <a:solidFill>
            <a:srgbClr val="FEF1C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186537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54112" y="2112264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画像驱动的阶段计划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355080" y="2075688"/>
            <a:ext cx="2258568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headEnd type="triangle"/>
          </a:ln>
        </p:spPr>
      </p:sp>
      <p:sp>
        <p:nvSpPr>
          <p:cNvPr id="26" name="Shape 24"/>
          <p:cNvSpPr/>
          <p:nvPr/>
        </p:nvSpPr>
        <p:spPr>
          <a:xfrm>
            <a:off x="8275320" y="3493008"/>
            <a:ext cx="203911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360273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诊断评估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21624" y="3849624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薄弱点与掌握度矩阵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6355080" y="3813048"/>
            <a:ext cx="2926080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head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4736592"/>
            <a:ext cx="2039112" cy="640080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4846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练习批改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38544" y="5093208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出题、判题、反馈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7498080" y="3419856"/>
            <a:ext cx="0" cy="1636776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3730752" y="4736592"/>
            <a:ext cx="2039112" cy="640080"/>
          </a:xfrm>
          <a:prstGeom prst="roundRect">
            <a:avLst/>
          </a:prstGeom>
          <a:solidFill>
            <a:srgbClr val="FFE4D2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77056" y="4846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错题复习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77056" y="5093208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SM-2 间隔重复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4736592" y="3419856"/>
            <a:ext cx="0" cy="1636776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1417320" y="3493008"/>
            <a:ext cx="203911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63624" y="360273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63624" y="3849624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依赖关系与节点详情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2423160" y="3813048"/>
            <a:ext cx="2286000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7824" y="4736592"/>
            <a:ext cx="203911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" y="4846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笔记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24128" y="5093208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/ Mermaid / 语义搜索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1883664" y="5056632"/>
            <a:ext cx="2825496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87968" y="4736592"/>
            <a:ext cx="2039112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34272" y="484632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语音助手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034272" y="5093208"/>
            <a:ext cx="16642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ASR/TTS 与页面上下文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6355080" y="5056632"/>
            <a:ext cx="3538728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headEnd type="triangle"/>
          </a:ln>
        </p:spPr>
      </p:sp>
      <p:sp>
        <p:nvSpPr>
          <p:cNvPr id="50" name="Text 48"/>
          <p:cNvSpPr/>
          <p:nvPr/>
        </p:nvSpPr>
        <p:spPr>
          <a:xfrm>
            <a:off x="713232" y="5797296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前端入口覆盖：/chat、/engine、/resources、/resources/generation、/mistakes、/notes、/profile、/knowledge-graph、/settings</a:t>
            </a:r>
            <a:endParaRPr lang="en-US" sz="8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演示视频建议路线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按真实用户流程安排，突出可用性、流式体验和生成结果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49808" y="1691640"/>
            <a:ext cx="4736592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56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91056" y="1847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登录与模型配置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591056" y="216712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持久化；正式演示使用设置页保存的用户 API Key 和模型。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190488" y="1691640"/>
            <a:ext cx="4736592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8562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31736" y="1847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7031736" y="216712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输入计算机专业问题，展示 SSE 逐字输出、多轮上下文和证据支撑。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49808" y="3081528"/>
            <a:ext cx="4736592" cy="969264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91056" y="3236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多智能体资源生成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591056" y="355701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PPT/文档/练习/思维导图等资源类型，展示任务进度与下载链接。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190488" y="3081528"/>
            <a:ext cx="4736592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2461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31736" y="3236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个性化学习路径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7031736" y="3557016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展示知识图谱、学习计划、推荐资源与薄弱点诊断。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49808" y="4471416"/>
            <a:ext cx="4736592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" y="4636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91056" y="4626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练习、错题与画像回写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591056" y="494690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练习提交后自动批改，错题进入复习计划，画像实时更新。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190488" y="4471416"/>
            <a:ext cx="4736592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4636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31736" y="46268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可靠性收束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7031736" y="494690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说明长任务 SSE、资源 downloadUrl、Console 无错误和健康检查。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749808" y="5559552"/>
            <a:ext cx="10149840" cy="38404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678424"/>
            <a:ext cx="9601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视频节奏建议：每个场景控制 20-30 秒，重点镜头给“逐字输出、进度事件、资源文件、画像变化”四类动态证据。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系统架构：Java 控制平面 + Python Agent 运行时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浏览器只访问 Java /api，AI 推理与生成封装在内部服务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86384" y="1874520"/>
            <a:ext cx="169164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93392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SPA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258568"/>
            <a:ext cx="143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 + Vite + Tailwind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逐字渲染 / 路由页面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2788920" y="1874520"/>
            <a:ext cx="1572768" cy="841248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993392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16936" y="2258568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静态资源 + /api 反向代理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关闭缓冲 / 1800s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727448" y="1737360"/>
            <a:ext cx="2148840" cy="111556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185623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控制平面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55464" y="2121408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3.3 / Java 21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认证、编排、SSE、下载签名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278624" y="1737360"/>
            <a:ext cx="199339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Agent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21214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LangGraph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Agent / RAG / 生成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9674352" y="1874520"/>
            <a:ext cx="1664208" cy="841248"/>
          </a:xfrm>
          <a:prstGeom prst="roundRect">
            <a:avLst/>
          </a:prstGeom>
          <a:solidFill>
            <a:srgbClr val="FEF1CF"/>
          </a:solidFill>
          <a:ln w="10160">
            <a:solidFill>
              <a:srgbClr val="F8D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19933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02368" y="225856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pgvector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 + Redis Streams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2496312" y="2286000"/>
            <a:ext cx="274320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70832" y="2286000"/>
            <a:ext cx="338328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76288" y="2286000"/>
            <a:ext cx="374904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99448" y="2286000"/>
            <a:ext cx="347472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" y="3675888"/>
            <a:ext cx="9921240" cy="47548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3831336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对话流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1920240" y="3822192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POST /messages/stream → Java 代理 Python SSE → 浏览器逐帧渲染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841248" y="4590288"/>
            <a:ext cx="9921240" cy="475488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E7F8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4745736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1920240" y="4736592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入队 Redis Streams → Worker 消费 → Java 持久化事件 → 前端重放与订阅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41248" y="5504688"/>
            <a:ext cx="9921240" cy="475488"/>
          </a:xfrm>
          <a:prstGeom prst="roundRect">
            <a:avLst/>
          </a:prstGeom>
          <a:solidFill>
            <a:srgbClr val="FFE4D2"/>
          </a:solidFill>
          <a:ln w="10160">
            <a:solidFill>
              <a:srgbClr val="FFE4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" y="5660136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1920240" y="5650992"/>
            <a:ext cx="7955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产物写入 sandbox → Java 校验 provenance → 签名 downloadUrl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四路融合 RAG：检索不是单一路径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QueryClassifier 零 LLM 调用分类策略，四通道并行召回后加权 RRF 融合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86384" y="2048256"/>
            <a:ext cx="1572768" cy="74980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67128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用户查询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432304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计算机课程问题 / 追问 / 图谱关系 / 当前信息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2743200" y="1938528"/>
            <a:ext cx="184708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1216" y="20574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QueryClassifier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71216" y="2322576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纯规则意图分类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LOCAL_HYBRID / DEEP_EVIDENCE / WEB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8321040" y="1938528"/>
            <a:ext cx="2029968" cy="96012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205740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 RRF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49056" y="2322576"/>
            <a:ext cx="1773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k=60；按 intent 调整 Graph 权重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Top5 稳定化与证据保护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10588752" y="2048256"/>
            <a:ext cx="987552" cy="749808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16768" y="21671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 / 资源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16768" y="243230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证据进入 Agent prompt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减少伪生成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2359152" y="2423160"/>
            <a:ext cx="365760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08576" y="2423160"/>
            <a:ext cx="475488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2423160"/>
            <a:ext cx="484632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60152" y="2423160"/>
            <a:ext cx="210312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10912" y="1481328"/>
            <a:ext cx="1170432" cy="694944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E7F8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15910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Grep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5120640" y="182880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FMM 术语词典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短语优先 + IDF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5010912" y="2395728"/>
            <a:ext cx="1170432" cy="694944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5054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5120640" y="274320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DashScope embedding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pgvector 1024 维</a:t>
            </a:r>
            <a:endParaRPr 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6419088" y="1481328"/>
            <a:ext cx="1170432" cy="694944"/>
          </a:xfrm>
          <a:prstGeom prst="roundRect">
            <a:avLst/>
          </a:prstGeom>
          <a:solidFill>
            <a:srgbClr val="FEF1CF"/>
          </a:solidFill>
          <a:ln w="10160">
            <a:solidFill>
              <a:srgbClr val="FEF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15910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Graph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528816" y="182880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1-hop/2-hop 扩展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PageRank + 社区加权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6419088" y="2395728"/>
            <a:ext cx="1170432" cy="694944"/>
          </a:xfrm>
          <a:prstGeom prst="roundRect">
            <a:avLst/>
          </a:prstGeom>
          <a:solidFill>
            <a:srgbClr val="FFE4D2"/>
          </a:solidFill>
          <a:ln w="10160">
            <a:solidFill>
              <a:srgbClr val="FFE4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250545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6528816" y="274320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Tavily opt-in</a:t>
            </a:r>
            <a:endParaRPr lang="en-US" sz="660" dirty="0"/>
          </a:p>
          <a:p>
            <a:pPr algn="l" indent="0" marL="0">
              <a:buNone/>
            </a:pPr>
            <a:r>
              <a:rPr lang="en-US" sz="6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8s 超时</a:t>
            </a:r>
            <a:endParaRPr lang="en-US" sz="660" dirty="0"/>
          </a:p>
        </p:txBody>
      </p:sp>
      <p:sp>
        <p:nvSpPr>
          <p:cNvPr id="40" name="Text 38"/>
          <p:cNvSpPr/>
          <p:nvPr/>
        </p:nvSpPr>
        <p:spPr>
          <a:xfrm>
            <a:off x="841248" y="39867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第三阶段质量指标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1248" y="448970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100 题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084832" y="4480560"/>
            <a:ext cx="2560320" cy="118872"/>
          </a:xfrm>
          <a:prstGeom prst="rect">
            <a:avLst/>
          </a:prstGeom>
          <a:solidFill>
            <a:srgbClr val="E6ECE8"/>
          </a:solidFill>
          <a:ln w="12700">
            <a:solidFill>
              <a:srgbClr val="E6EC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4832" y="4480560"/>
            <a:ext cx="2560320" cy="11887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446227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100/100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41248" y="490118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 100 题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084832" y="4892040"/>
            <a:ext cx="2560320" cy="118872"/>
          </a:xfrm>
          <a:prstGeom prst="rect">
            <a:avLst/>
          </a:prstGeom>
          <a:solidFill>
            <a:srgbClr val="E6ECE8"/>
          </a:solidFill>
          <a:ln w="12700">
            <a:solidFill>
              <a:srgbClr val="E6EC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84832" y="4892040"/>
            <a:ext cx="2406701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1456" y="487375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94/100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41248" y="53126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channelError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084832" y="5303520"/>
            <a:ext cx="2560320" cy="118872"/>
          </a:xfrm>
          <a:prstGeom prst="rect">
            <a:avLst/>
          </a:prstGeom>
          <a:solidFill>
            <a:srgbClr val="E6ECE8"/>
          </a:solidFill>
          <a:ln w="12700">
            <a:solidFill>
              <a:srgbClr val="E6EC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84832" y="5303520"/>
            <a:ext cx="16459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528523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815584" y="4169664"/>
            <a:ext cx="4773168" cy="1170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16752" y="43525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6016752" y="461772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Graph-aware 查询启用 canonical 化与 direct evidence Top5 保护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普通 LOCAL_HYBRID 保持 1s embedding 预算，不扩大普通请求延迟</a:t>
            </a:r>
            <a:endParaRPr lang="en-US" sz="760" dirty="0"/>
          </a:p>
          <a:p>
            <a:pPr algn="l" indent="0" marL="0">
              <a:buNone/>
            </a:pPr>
            <a:r>
              <a:rPr lang="en-US" sz="76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检索结果有 TTL 缓存与自适应旁路，避免低命中缓存拖慢链路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多智能体编排：18 个专职 Agent 被统一调度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支持链式任务与 fan-out 并行资源生成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86384" y="166420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Supervisor 根据 serviceType 与 intent 路由到不同任务链路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" y="2084832"/>
            <a:ext cx="2423160" cy="877824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0370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PythonAgentSupervisor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68880"/>
            <a:ext cx="21671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Agent、选择路由、传递 SystemSnapshot、统一发出 SSE 事件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3730752" y="1627632"/>
            <a:ext cx="2468880" cy="1243584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E7F8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7830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问答链路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13632" y="206654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query_rewrite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tutor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image_analysis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18688" y="2542032"/>
            <a:ext cx="475488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84848" y="1627632"/>
            <a:ext cx="2468880" cy="1243584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7830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资源生成链路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67728" y="2066544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resource_bundle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video_generator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18688" y="2542032"/>
            <a:ext cx="3529584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730752" y="3337560"/>
            <a:ext cx="2468880" cy="1243584"/>
          </a:xfrm>
          <a:prstGeom prst="roundRect">
            <a:avLst/>
          </a:prstGeom>
          <a:solidFill>
            <a:srgbClr val="FEF1CF"/>
          </a:solidFill>
          <a:ln w="10160">
            <a:solidFill>
              <a:srgbClr val="FEF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34930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个性化链路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13632" y="3776472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path_planning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resource_push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18688" y="2542032"/>
            <a:ext cx="0" cy="141732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84848" y="3337560"/>
            <a:ext cx="2468880" cy="1243584"/>
          </a:xfrm>
          <a:prstGeom prst="roundRect">
            <a:avLst/>
          </a:prstGeom>
          <a:solidFill>
            <a:srgbClr val="FFE4D2"/>
          </a:solidFill>
          <a:ln w="10160">
            <a:solidFill>
              <a:srgbClr val="FFE4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4930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练习批改链路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67728" y="3776472"/>
            <a:ext cx="1901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practice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18688" y="2542032"/>
            <a:ext cx="3529584" cy="0"/>
          </a:xfrm>
          <a:prstGeom prst="line">
            <a:avLst/>
          </a:prstGeom>
          <a:noFill/>
          <a:ln w="17780">
            <a:solidFill>
              <a:srgbClr val="CAD5C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6384" y="3858768"/>
            <a:ext cx="2423160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0507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统一事件输出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9264" y="434340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result_chunk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resource_file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question_batch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judge_result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730752" y="5047488"/>
            <a:ext cx="5504688" cy="512064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68496" y="5230368"/>
            <a:ext cx="5010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Agent 只需：实现类 → 注册到 Supervisor → 配置 supervisor_routes.json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个性化学习闭环：画像不是展示页，而是调度信号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六层记忆沉淀为 SystemSnapshot，驱动下一轮问答、资源和路径规划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325112" y="1591056"/>
            <a:ext cx="192024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72821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诊断评估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35424" y="1956816"/>
            <a:ext cx="1481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薄弱点 / 掌握度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6740388" y="2345436"/>
            <a:ext cx="192024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50700" y="24825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路径规划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50700" y="2711196"/>
            <a:ext cx="1481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阶段目标 / 检查点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6740388" y="3854196"/>
            <a:ext cx="1920240" cy="603504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0700" y="39913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资源推送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950700" y="4219956"/>
            <a:ext cx="1481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PPT / 视频 / 练习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4325112" y="4608576"/>
            <a:ext cx="192024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474573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练习批改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35424" y="4974336"/>
            <a:ext cx="1481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判题 / 反馈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909836" y="3854196"/>
            <a:ext cx="192024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0148" y="399135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错题复习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20148" y="4219956"/>
            <a:ext cx="1481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SM-2 间隔重复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1909836" y="2345436"/>
            <a:ext cx="1920240" cy="603504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E7F8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0148" y="2482596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画像更新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120148" y="2711196"/>
            <a:ext cx="14813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 / 偏好 / 进度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370832" y="2816352"/>
            <a:ext cx="1828800" cy="987552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3054096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SystemSnapshot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4636008" y="3310128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天学习信号聚合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822960" y="1847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六层记忆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1248" y="2240280"/>
            <a:ext cx="1005840" cy="292608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231343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会话记忆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993392" y="2340864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</a:t>
            </a:r>
            <a:endParaRPr lang="en-US" sz="690" dirty="0"/>
          </a:p>
        </p:txBody>
      </p:sp>
      <p:sp>
        <p:nvSpPr>
          <p:cNvPr id="37" name="Shape 35"/>
          <p:cNvSpPr/>
          <p:nvPr/>
        </p:nvSpPr>
        <p:spPr>
          <a:xfrm>
            <a:off x="841248" y="2679192"/>
            <a:ext cx="100584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275234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结构化摘要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1993392" y="27797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MongoDB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841248" y="3118104"/>
            <a:ext cx="1005840" cy="292608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319125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1993392" y="3218688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841248" y="3557016"/>
            <a:ext cx="100584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363016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知识掌握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1993392" y="3657600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841248" y="3995928"/>
            <a:ext cx="1005840" cy="292608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E7F8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06908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学习计划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1993392" y="4096512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690" dirty="0"/>
          </a:p>
        </p:txBody>
      </p:sp>
      <p:sp>
        <p:nvSpPr>
          <p:cNvPr id="49" name="Shape 47"/>
          <p:cNvSpPr/>
          <p:nvPr/>
        </p:nvSpPr>
        <p:spPr>
          <a:xfrm>
            <a:off x="841248" y="4434840"/>
            <a:ext cx="100584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50799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练习错题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993392" y="4535424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9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690" dirty="0"/>
          </a:p>
        </p:txBody>
      </p:sp>
      <p:sp>
        <p:nvSpPr>
          <p:cNvPr id="52" name="Shape 50"/>
          <p:cNvSpPr/>
          <p:nvPr/>
        </p:nvSpPr>
        <p:spPr>
          <a:xfrm>
            <a:off x="8778240" y="2048256"/>
            <a:ext cx="2304288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9408" y="226771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演示时重点展示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979408" y="2633472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学习路径不是静态模板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练习结果会回写掌握度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资源推荐与薄弱点联动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画像用于下一轮 Agent prompt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长任务可靠执行：资源生成不会只停在“加载中”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Streams 异步队列 + Java SSE 持久化重放 + Nginx 长超时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49808" y="1901952"/>
            <a:ext cx="1353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0756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896112" y="24048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/api/smart-engine/submit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2103120" y="2359152"/>
            <a:ext cx="329184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05456" y="1901952"/>
            <a:ext cx="1353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0756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2651760" y="24048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Streams + 幂等键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3858768" y="2359152"/>
            <a:ext cx="329184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61104" y="1901952"/>
            <a:ext cx="1353312" cy="932688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0756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4407408" y="24048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Worker + Supervisor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5614416" y="2359152"/>
            <a:ext cx="329184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16752" y="1901952"/>
            <a:ext cx="1353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0756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回调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6163056" y="24048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started/events/failed 持久化</a:t>
            </a:r>
            <a:endParaRPr lang="en-US" sz="670" dirty="0"/>
          </a:p>
        </p:txBody>
      </p:sp>
      <p:sp>
        <p:nvSpPr>
          <p:cNvPr id="27" name="Shape 25"/>
          <p:cNvSpPr/>
          <p:nvPr/>
        </p:nvSpPr>
        <p:spPr>
          <a:xfrm>
            <a:off x="7370064" y="2359152"/>
            <a:ext cx="329184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72400" y="1901952"/>
            <a:ext cx="1353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20756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推送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7918704" y="24048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replay + live events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9125712" y="2359152"/>
            <a:ext cx="329184" cy="0"/>
          </a:xfrm>
          <a:prstGeom prst="line">
            <a:avLst/>
          </a:prstGeom>
          <a:noFill/>
          <a:ln w="1778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28048" y="1901952"/>
            <a:ext cx="1353312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74352" y="207568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9674352" y="240487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resource_file + downloadUrl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749808" y="3675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可靠性设计点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808" y="4187952"/>
            <a:ext cx="4443984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断线可恢复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1847088" y="4315968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smart_engine_task_event 按 event_seq 持久化，前端重连后重放未接收事件。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5797296" y="4187952"/>
            <a:ext cx="4443984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32511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取消可传播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6894576" y="4315968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标记 CANCELLED，Redis 写 cancel key，再通知 Python 内部取消端点。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749808" y="4846320"/>
            <a:ext cx="4443984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834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长任务不截断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1847088" y="4974336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SSE proxy_read_timeout 1800s，关闭 proxy_buffering。</a:t>
            </a:r>
            <a:endParaRPr lang="en-US" sz="710" dirty="0"/>
          </a:p>
        </p:txBody>
      </p:sp>
      <p:sp>
        <p:nvSpPr>
          <p:cNvPr id="45" name="Shape 43"/>
          <p:cNvSpPr/>
          <p:nvPr/>
        </p:nvSpPr>
        <p:spPr>
          <a:xfrm>
            <a:off x="5797296" y="4846320"/>
            <a:ext cx="4443984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49834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产物可下载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894576" y="4974336"/>
            <a:ext cx="2907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写 sandbox，Java 校验 provenance 后签发 30 分钟下载 token。</a:t>
            </a:r>
            <a:endParaRPr lang="en-US" sz="7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安全与生成边界：演示环境也遵守生产契约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Key、内部 Token、产物溯源和沙箱清理共同防止越界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49808" y="1719072"/>
            <a:ext cx="48920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88366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唯一入口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86000" y="1865376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浏览器只访问 /api/*；Python /internal/* 由 Java 携带内部 Token 调用。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49808" y="2523744"/>
            <a:ext cx="4892040" cy="566928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26883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LLM Key 边界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267004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正式用户和演示任务使用设置页保存的 API Key 与模型，不回退系统 Key。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749808" y="3328416"/>
            <a:ext cx="48920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49300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Provenance 校验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0" y="3474720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生成资源必须包含 provider、model、agentName、evidenceIds、fallback 等字段。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49808" y="4133088"/>
            <a:ext cx="489204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429768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沙箱与签名下载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86000" y="4279392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产物写入 sandbox，Java 校验后签发短期 downloadUrl。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419088" y="1719072"/>
            <a:ext cx="4297680" cy="2980944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199339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设置页模型配置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6729984" y="2505456"/>
            <a:ext cx="822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711696" y="2679192"/>
            <a:ext cx="3547872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279806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DashScope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729984" y="3218688"/>
            <a:ext cx="822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6711696" y="3383280"/>
            <a:ext cx="3547872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35021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由用户设置页保存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9984" y="3931920"/>
            <a:ext cx="8229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6711696" y="4096512"/>
            <a:ext cx="3547872" cy="3840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4215384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qwen-plus / 组件级覆盖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19088" y="5010912"/>
            <a:ext cx="4297680" cy="512064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5193792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演示口径：密钥不出前端表单，不直连云服务；Java 统一鉴权、签名和审计。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21792" y="4023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验证结果：用指标证明演示链路可用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README、架构文档与本地测试报告的稳定指标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1353312"/>
            <a:ext cx="10469880" cy="0"/>
          </a:xfrm>
          <a:prstGeom prst="line">
            <a:avLst/>
          </a:prstGeom>
          <a:noFill/>
          <a:ln w="11430">
            <a:solidFill>
              <a:srgbClr val="CAD5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86384" y="1700784"/>
            <a:ext cx="44439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186537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RAG hit@3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69264" y="20939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100/100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414016" y="213969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 861.07ms，P95 972.03ms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861304" y="1700784"/>
            <a:ext cx="44439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186537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 RAG hit@3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044184" y="20939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94/100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88936" y="213969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overallPass=true，channelErrorCount=0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786384" y="3026664"/>
            <a:ext cx="44439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319125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演示问答 SSE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969264" y="34198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 200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414016" y="346557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测试报告记录 3 次 /messages/stream 均成功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861304" y="3026664"/>
            <a:ext cx="4443984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4184" y="319125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Console 错误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044184" y="34198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488936" y="346557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test_report.json errors=[]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786384" y="4599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联调前检查清单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5020056"/>
            <a:ext cx="118872" cy="11887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992624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→ JWT → localStorage 持久化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632704" y="5020056"/>
            <a:ext cx="118872" cy="11887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33872" y="4992624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流式对话 → text/event-stream → 逐字渲染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2960" y="5330952"/>
            <a:ext cx="118872" cy="11887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" y="5303520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SSE → progress / done 推动状态流转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32704" y="5330952"/>
            <a:ext cx="118872" cy="11887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3872" y="5303520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resource_file downloadUrl 可下载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22960" y="5641848"/>
            <a:ext cx="118872" cy="11887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5614416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&gt;5min 任务不被 nginx/SSE 截断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32704" y="5641848"/>
            <a:ext cx="118872" cy="11887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5614416"/>
            <a:ext cx="4251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Console 无 CORS / 401 / ERR_CONNECTION_REFUSED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 w="12700">
            <a:solidFill>
              <a:srgbClr val="F7FA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3657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2368" y="0"/>
            <a:ext cx="1874520" cy="164592"/>
          </a:xfrm>
          <a:prstGeom prst="rect">
            <a:avLst/>
          </a:prstGeom>
          <a:solidFill>
            <a:srgbClr val="CFEFE2"/>
          </a:solidFill>
          <a:ln w="12700">
            <a:solidFill>
              <a:srgbClr val="CFEF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0" y="63825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49808" y="84124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智学引擎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768096" y="14447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演示收束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6384" y="2633472"/>
            <a:ext cx="43434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学习不是一次问答，而是持续画像驱动的闭环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生成不是无依据输出，而是 RAG 证据与 provenance 可追溯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能力不是独立脚本，而是纳入 Java 唯一入口与 SSE 工程契约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16752" y="1115568"/>
            <a:ext cx="4370832" cy="2907792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5179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7F3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一句话答辩口径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64224" y="1993392"/>
            <a:ext cx="34930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智学引擎把“可信检索、多智能体生成、学习画像闭环、长任务可靠执行”整合成一个可部署、可演示、可扩展的全栈学习系统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016752" y="4434840"/>
            <a:ext cx="4370832" cy="694944"/>
          </a:xfrm>
          <a:prstGeom prst="roundRect">
            <a:avLst/>
          </a:prstGeom>
          <a:solidFill>
            <a:srgbClr val="E7F8F1"/>
          </a:solidFill>
          <a:ln w="10160">
            <a:solidFill>
              <a:srgbClr val="B9EB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466344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建议最后镜头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296912" y="4654296"/>
            <a:ext cx="2542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展示资源文件下载成功或学习画像变化，用动态结果结束视频。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86384" y="5358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6272784"/>
            <a:ext cx="10625328" cy="0"/>
          </a:xfrm>
          <a:prstGeom prst="line">
            <a:avLst/>
          </a:prstGeom>
          <a:noFill/>
          <a:ln w="7620">
            <a:solidFill>
              <a:srgbClr val="CAD5C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63825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361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ZhiXue Engine · Demo Deck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ZhiXue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智学引擎演示视频PPT</dc:title>
  <dc:subject>演示视频所用 PPT</dc:subject>
  <dc:creator>智学引擎团队</dc:creator>
  <cp:lastModifiedBy>智学引擎团队</cp:lastModifiedBy>
  <cp:revision>1</cp:revision>
  <dcterms:created xsi:type="dcterms:W3CDTF">2026-06-27T06:36:11Z</dcterms:created>
  <dcterms:modified xsi:type="dcterms:W3CDTF">2026-06-27T06:36:11Z</dcterms:modified>
</cp:coreProperties>
</file>